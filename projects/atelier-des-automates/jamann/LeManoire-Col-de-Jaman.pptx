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572000" cy="4572000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02920"/>
            <a:ext cx="1371600" cy="347472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93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B0F1F"/>
                </a:solidFill>
              </a:rPr>
              <a:t>1 5 1 2 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BFB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Manoïre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58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de Jaman  ·  Montreux  ·  Vaud, Suisse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Au-dessus du lac, au-dessus du bruit, au-dessus du temps. 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Renaissance · Fin 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Chronologie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ans d'histoire au col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164592" cy="164592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" y="1444752"/>
            <a:ext cx="0" cy="402336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234440"/>
            <a:ext cx="1005840" cy="246888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25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21615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Fondations. Une fromagerie d'alpage en madriers de mélèze est bâtie au col.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892808"/>
            <a:ext cx="164592" cy="164592"/>
          </a:xfrm>
          <a:prstGeom prst="ellipse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" y="2057400"/>
            <a:ext cx="0" cy="402336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847088"/>
            <a:ext cx="1005840" cy="246888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37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Années 40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1828800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 &amp; Fred Buser transforment la fromagerie en café-restaurant mythique.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505456"/>
            <a:ext cx="164592" cy="164592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" y="2670048"/>
            <a:ext cx="0" cy="402336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459736"/>
            <a:ext cx="1005840" cy="246888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Années 2010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441448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étoilé Michelin Frédéric Médigue (Paris, Tokyo, Hong Kong…) reprend l'établissement.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118104"/>
            <a:ext cx="164592" cy="164592"/>
          </a:xfrm>
          <a:prstGeom prst="ellipse">
            <a:avLst/>
          </a:prstGeom>
          <a:solidFill>
            <a:srgbClr val="7A4A30"/>
          </a:solidFill>
          <a:ln w="12700">
            <a:solidFill>
              <a:srgbClr val="7A4A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" y="3282696"/>
            <a:ext cx="0" cy="402336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072384"/>
            <a:ext cx="1005840" cy="246888"/>
          </a:xfrm>
          <a:prstGeom prst="rect">
            <a:avLst/>
          </a:prstGeom>
          <a:solidFill>
            <a:srgbClr val="7A4A30"/>
          </a:solidFill>
          <a:ln w="12700">
            <a:solidFill>
              <a:srgbClr val="7A4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063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054096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 déclaré impropre. Renommé « Le Mano ». Food truck temporaire à l'extérieur.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3730752"/>
            <a:ext cx="164592" cy="164592"/>
          </a:xfrm>
          <a:prstGeom prst="ellipse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" y="3895344"/>
            <a:ext cx="0" cy="402336"/>
          </a:xfrm>
          <a:prstGeom prst="line">
            <a:avLst/>
          </a:prstGeom>
          <a:noFill/>
          <a:ln w="12700">
            <a:solidFill>
              <a:srgbClr val="D4C5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3685032"/>
            <a:ext cx="1005840" cy="246888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675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3666744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Micka Moreau remporte l'appel d'offres. Usufruit 40 ans · 1 CHF symbolique. Vote : 72-0-1.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4343400"/>
            <a:ext cx="164592" cy="164592"/>
          </a:xfrm>
          <a:prstGeom prst="ellipse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4297680"/>
            <a:ext cx="1005840" cy="246888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288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Juin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0" y="4279392"/>
            <a:ext cx="672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nom originel Le Manoïre. Réouverture après travaux de rénovation.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lieu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de Jaman · 1512m · Parc naturel régional Gruyère Pays-d'Enhaut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3749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3749040" cy="384048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710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panorama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🏔️ Côté nord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Léman et Riviera vaudoise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plongeante sur Montreux depuis 1512m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🌿 Côté sud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Vallée de la Gruyère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Préalpes fribourgoises à l'horizon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🪵 Bâtiment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50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Chalet en madriers de mélèze centenaires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places en salle + 80 en terrasse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4206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80160"/>
            <a:ext cx="4206240" cy="384048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71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Accès &amp; infos pratiques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0F1F"/>
                </a:solidFill>
              </a:rPr>
              <a:t>🚂 Train MOB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21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Crémaillère Montreux–Oberland bernois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Montreux via Les Avants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0F1F"/>
                </a:solidFill>
              </a:rPr>
              <a:t>🚗 Voiture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 montagne via Chamby, Caux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Les Avants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0F1F"/>
                </a:solidFill>
              </a:rPr>
              <a:t>📍 Altitude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1512m dans les Préalpes vaudoises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123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0F1F"/>
                </a:solidFill>
              </a:rPr>
              <a:t>📏 Capacité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3982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places en salle · 80 en terrasse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Randonnées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 de Jaman — carrefour incontournable entre la Riviera et les Préalpes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2560320" cy="6858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93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 de Jaman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1875m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2267712"/>
            <a:ext cx="91440" cy="91440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76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en canine, visible depuis toute la Riviera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" y="2926080"/>
            <a:ext cx="91440" cy="91440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Sentier part directement derrière le restaurant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" y="3584448"/>
            <a:ext cx="91440" cy="91440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930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équipés de chaînes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" y="4242816"/>
            <a:ext cx="91440" cy="91440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51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360° : Léman, Dents du Midi, Jura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28016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280160"/>
            <a:ext cx="2560320" cy="68580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2893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Rochers de Naye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290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2042m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02152" y="2267712"/>
            <a:ext cx="91440" cy="91440"/>
          </a:xfrm>
          <a:prstGeom prst="ellipse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176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traversée depuis le col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2926080"/>
            <a:ext cx="91440" cy="91440"/>
          </a:xfrm>
          <a:prstGeom prst="ellipse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 de marmottes au sommet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02152" y="3584448"/>
            <a:ext cx="91440" cy="91440"/>
          </a:xfrm>
          <a:prstGeom prst="ellipse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4930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Grottes de Naye sur le parcours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02152" y="4242816"/>
            <a:ext cx="91440" cy="91440"/>
          </a:xfrm>
          <a:prstGeom prst="ellipse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151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possible en train MOB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28016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280160"/>
            <a:ext cx="2560320" cy="685800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2893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classique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722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8 km · +1175 m · ~4h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5352" y="2267712"/>
            <a:ext cx="91440" cy="91440"/>
          </a:xfrm>
          <a:prstGeom prst="ellipse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176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Avants → Col de Jaman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45352" y="2926080"/>
            <a:ext cx="91440" cy="91440"/>
          </a:xfrm>
          <a:prstGeom prst="ellipse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Rochers de Naye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45352" y="3584448"/>
            <a:ext cx="91440" cy="91440"/>
          </a:xfrm>
          <a:prstGeom prst="ellipse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930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: juin à octobre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4242816"/>
            <a:ext cx="91440" cy="91440"/>
          </a:xfrm>
          <a:prstGeom prst="ellipse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151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 = halte centrale obligée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fromagerie voisine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des Alpages de Jaman — littéralement à côté de la porte du Manoïre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920240" cy="141732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fromagerie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1920240" cy="1417320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88920" y="20848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saison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1920240" cy="1417320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CHF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92040" y="20848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325880"/>
            <a:ext cx="1920240" cy="141732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1371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ans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95160" y="20848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d'usufruit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926080"/>
            <a:ext cx="8321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017520"/>
            <a:ext cx="7863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 des Alpages de Jaman </a:t>
            </a:r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une fromagerie de démonstration dans un chalet communal tout à côté du Manoïre — active depuis 1944.
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voit la fabrication artisanale de la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tomme de Jaman</a:t>
            </a:r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Les vaches paissent dans les alpages autour. En automne, la </a:t>
            </a:r>
            <a:pPr indent="0" marL="0">
              <a:buNone/>
            </a:pPr>
            <a:r>
              <a:rPr lang="en-US" sz="1250" b="1" i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Désalpe</a:t>
            </a:r>
            <a:pPr indent="0" marL="0">
              <a:buNone/>
            </a:pPr>
            <a:r>
              <a:rPr lang="en-US" sz="12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(descente des troupeaux) transforme le col en fête.
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Micka, le terroir est littéralement à portée de main.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cuisine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 typiques de montagne · Producteurs locaux · Prix raisonnables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26700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98448"/>
            <a:ext cx="73152" cy="1627632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🧀  Tomme fraîche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D'alpage, production locale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des Alpages de Jaman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298448"/>
            <a:ext cx="26700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1298448"/>
            <a:ext cx="73152" cy="16276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  Raclette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30168" y="18928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feu de bois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 suisse authentique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0216" y="1298448"/>
            <a:ext cx="26700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0216" y="1298448"/>
            <a:ext cx="73152" cy="1627632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🥔  Rösti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83096" y="189280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Montagnard et généreux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de l'alpage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081528"/>
            <a:ext cx="26700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081528"/>
            <a:ext cx="73152" cy="1627632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🫕  Fondue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Maison, fromages artisans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suisses identifiés par Micka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7288" y="3081528"/>
            <a:ext cx="26700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47288" y="3081528"/>
            <a:ext cx="73152" cy="1627632"/>
          </a:xfrm>
          <a:prstGeom prst="rect">
            <a:avLst/>
          </a:prstGeom>
          <a:solidFill>
            <a:srgbClr val="E06530"/>
          </a:solidFill>
          <a:ln w="12700">
            <a:solidFill>
              <a:srgbClr val="E065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🥩  Viandes &amp; charcuteries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30168" y="36758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suisses locaux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connus de Micka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0216" y="3081528"/>
            <a:ext cx="267004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0216" y="3081528"/>
            <a:ext cx="73152" cy="1627632"/>
          </a:xfrm>
          <a:prstGeom prst="rect">
            <a:avLst/>
          </a:prstGeom>
          <a:solidFill>
            <a:srgbClr val="4B0F1F"/>
          </a:solidFill>
          <a:ln w="12700">
            <a:solidFill>
              <a:srgbClr val="4B0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0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Menu ardoise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83096" y="36758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Renouvelé selon saison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arrivages locaux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011680"/>
            <a:ext cx="5029200" cy="5029200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8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renaissance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Michaël « Micka » Moreau — le nouveau gardien du 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234440" cy="27432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08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0F1F"/>
                </a:solidFill>
              </a:rPr>
              <a:t>Parcours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Ex-maître de salle aux Trois Sifflets (restaurant gastronomique, Vevey)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167128"/>
            <a:ext cx="1234440" cy="27432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0F1F"/>
                </a:solidFill>
              </a:rPr>
              <a:t>Sélection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1671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Remporte l'appel d'offres de la Commune de Montreux en 2024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916936"/>
            <a:ext cx="1234440" cy="27432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0F1F"/>
                </a:solidFill>
              </a:rPr>
              <a:t>Conditions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9169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Usufruit 40 ans · 1 CHF symbolique · 18 000 CHF/an · Vote : 72-0-1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666744"/>
            <a:ext cx="1234440" cy="27432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0F1F"/>
                </a:solidFill>
              </a:rPr>
              <a:t>Engagement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36667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sur place · Travaux menés personnellement · Ouverture fin juin 2026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224528"/>
            <a:ext cx="54864" cy="658368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1148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8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Transmettre plutôt que conceptualiser.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58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pour une saison. Pour des décennies. »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86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compilé le 1er juin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lemanoire-jaman.ch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170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officiel du projet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4447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https://lemanoire-jaman.ch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755648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mymontreux.ch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nouvelle existence de l'emblématique Manoïre 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https://mymontreux.ch/news/la-nouvelle-existence-de-lemblematique-manoire/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276856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24heures.ch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2128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chef étoilé reprend le Manoïre à Jaman 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4871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https://www.24heures.ch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798064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734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buvettes-alpage.ch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7340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Le Mano — capacité, accès, spécialités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0083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https://www.buvettes-alpage.ch/manoire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3319272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randonnees.ch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2552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Les Avants – Col de Jaman – Rochers de Naye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5295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https://www.randonnees.ch/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840480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alltrails.com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776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de Jaman – Dent de Jaman (341 avis)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0507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https://www.alltrails.com/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4361688"/>
            <a:ext cx="128016" cy="128016"/>
          </a:xfrm>
          <a:prstGeom prst="ellipse">
            <a:avLst/>
          </a:prstGeom>
          <a:solidFill>
            <a:srgbClr val="C58632"/>
          </a:solidFill>
          <a:ln w="12700">
            <a:solidFill>
              <a:srgbClr val="C586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32"/>
                </a:solidFill>
              </a:rPr>
              <a:t>mymontreux.ch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du fromage de Jaman — Société des Alpages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45720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https://mymontreux.ch/montreux-en-images/fabrication-du-fromage-de-jaman/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Manoïre — Col de Jaman</dc:title>
  <dc:subject>PptxGenJS Presentation</dc:subject>
  <dc:creator>Clockwork Ops</dc:creator>
  <cp:lastModifiedBy>Clockwork Ops</cp:lastModifiedBy>
  <cp:revision>1</cp:revision>
  <dcterms:created xsi:type="dcterms:W3CDTF">2026-06-01T20:02:52Z</dcterms:created>
  <dcterms:modified xsi:type="dcterms:W3CDTF">2026-06-01T20:02:52Z</dcterms:modified>
</cp:coreProperties>
</file>